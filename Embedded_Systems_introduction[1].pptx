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83" r:id="rId21"/>
    <p:sldId id="279" r:id="rId22"/>
    <p:sldId id="282" r:id="rId23"/>
    <p:sldId id="275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84B69-58BC-477D-AF13-916F94E294F1}" v="86" dt="2025-07-02T20:39:34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4.427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0,'14'2,"0"0,-1 1,1 1,-1 0,0 1,0 0,-1 1,18 11,-13-8,78 48,9 5,-90-56,0 0,0-1,0 0,1-1,-1 0,19 1,68 0,113-7,-60-2,551 4,-713 1,1 1,0 0,0 0,0 1,-8 4,-12 4,15-7,-24 9,0-1,-1-2,-52 7,50-12,-1 3,1 1,-58 22,61-20,-60 9,65-14,-1 0,-53 20,-25 21,78-30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5.401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7.018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3253 3,'-503'-2,"-558"5,346 48,555-36,-439 2,384-17,1632-2,-709 4,-667-2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7.851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0 461,'92'-13,"-36"7,3036-188,-2435 191,867-28,-993-8,-8-39,-255 31,-193 35,-73 11,9 0,-1 0,0-1,1-1,-1 0,0 0,0-1,15-8,-18 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8.235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8.453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8.667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9.569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29.783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31.050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31.267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2T20:24:32.051"/>
    </inkml:context>
    <inkml:brush xml:id="br0">
      <inkml:brushProperty name="width" value="0.3" units="cm"/>
      <inkml:brushProperty name="height" value="0.6" units="cm"/>
      <inkml:brushProperty name="color" value="#FFFFE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078AE-2865-4F55-960C-6A3802A5EC45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8EA40-5325-4E45-86BF-CBADC367D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6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08EA40-5325-4E45-86BF-CBADC367D38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22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165F-179E-F66B-0DD5-069FE7B78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3E2E2-EBC5-25B0-1B68-3A6D0BE3C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6A277-144A-11ED-1219-BED8E20D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FBA51-5CED-605C-965E-9920E140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93801-CCBB-C50A-5D2D-7EE7B85C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83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2816-BE53-371C-92F8-08C854DE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1A6F-8B09-1778-C496-63B8AC5D1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8FD50-BBC7-C7DE-FD2B-08112778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455BF-EAEE-388C-7954-3D9CA2E0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4B463-0EDA-E9B3-0C18-501228AE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60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D116-673C-F4D3-4D41-090CD23E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8C12B-39FC-E6E0-87DC-2B7D92C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88F4C-1539-DE9B-D9CF-630FFA45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D03D2-5B4E-064B-B2C8-36E37055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40FE-0605-3778-50D5-E4089328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78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4EC5-B40E-E282-54D9-DB8CC0C6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49036-F845-8BC8-541A-FB234026E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01A56-4AB4-EF36-6525-950193E3C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C0C1D-695C-C5B4-3855-B5FF3EBD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0C193-4997-A6EB-F3DD-36EDD63C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9FADF-7AF5-F7F2-762D-1A599962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2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F0A4-B062-A1D2-BB7E-374BDE56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651BF-B288-23F9-E9CB-708145213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BEE04-34CC-0B74-BE23-2E09F460C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66162-16D9-D21D-0632-8F2E59DD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1C132-C4DD-BA66-87E1-0B1902B50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03DF39-0737-C384-3D0C-B3974A5B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95554-D202-A901-D917-B75FBC9C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055E28-1DE3-ACFB-0CDE-FD527F74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61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2128-65A7-30D9-EC08-11B5715A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AD75EE-CF16-1DFA-B538-2DDF392C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0A7FA-E1BC-0806-28B1-BF03A618A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7705A-795C-402E-A533-8E628E48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447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BA420-46AD-E16B-8A37-B555C28C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1A405-DB76-0902-8505-A57DF351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92843-39C2-4651-C168-CA2A07BB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6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5BF7-9D61-5B2B-1E5E-13D079298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DE9EE-C3AA-8FA2-4EB6-D4A9B7793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1BBAA-39AD-CB75-78AB-E76392988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C45EE-B112-90B9-738D-0600D2CC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3335A-2A5A-3D80-1176-75633BA8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27BA4-64E0-C563-67B7-6CD9A95D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1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0CFF-E4A5-D7A1-F462-AEB59C97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866476-2C20-BA1F-1B1A-DBE39013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5CCC3-1683-39BE-41C4-B5F22E800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931B4-AF9A-3E05-A40F-8373D622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8375-3DF0-D6A8-0689-CBE98D771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FAEF4-89E1-C9CE-B3BC-40DCAE86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4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CD70-9E77-EE9C-2B2E-00884936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CDD45-76F7-E4F7-0BA3-CFE1A3B51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9C959-EB47-7CC7-3A9E-BA4444DF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D24F3-8CA1-B2D9-D536-1CD49E39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E920D-8AFD-DB92-68C8-5620A479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7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4D34D-FA8C-6B46-A4DB-60755F3D7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22A22-0010-9D34-3804-FDE1EA03A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5F084-A524-6EE8-531F-0BA61FE7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DEA7-E4B2-071E-CF3F-9DCACACE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5DDC-86A2-686C-7293-0EDFC633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82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184A4-FC40-0C30-D77A-5B349D33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C940E-0EB8-B67D-2C6D-B4D00D3E1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F8706-0DBC-C95F-24F0-D89BC9692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CA902-24A5-41F1-9F9B-93EC3CC2B80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5C4DE-8C07-8CDA-1C6B-EDAA0E537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C1411-970E-87FD-4118-E35161B42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0AD95-2D69-4A00-8D85-26480A613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62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7.xml"/><Relationship Id="rId18" Type="http://schemas.openxmlformats.org/officeDocument/2006/relationships/customXml" Target="../ink/ink12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17" Type="http://schemas.openxmlformats.org/officeDocument/2006/relationships/customXml" Target="../ink/ink11.xml"/><Relationship Id="rId2" Type="http://schemas.openxmlformats.org/officeDocument/2006/relationships/image" Target="../media/image14.png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4.xml"/><Relationship Id="rId14" Type="http://schemas.openxmlformats.org/officeDocument/2006/relationships/customXml" Target="../ink/ink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EDFC1-1197-ED5C-D0E5-C754A8989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007" y="2534526"/>
            <a:ext cx="4658984" cy="178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9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27DD5-6F3B-0F4F-DAAA-61F3EA8F9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highlight>
                  <a:srgbClr val="00FFFF"/>
                </a:highlight>
                <a:latin typeface="Century" panose="02040604050505020304" pitchFamily="18" charset="0"/>
              </a:rPr>
              <a:t>Embedded</a:t>
            </a:r>
            <a:r>
              <a:rPr lang="en-IN" dirty="0">
                <a:highlight>
                  <a:srgbClr val="00FFFF"/>
                </a:highlight>
              </a:rPr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67354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AA3D-B08C-0998-FF65-94BEF3CE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1. What is an Embedded System ?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90A93-897B-D4A7-1290-96A0D32B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</a:t>
            </a:r>
            <a:r>
              <a:rPr lang="en-GB" b="1" dirty="0"/>
              <a:t>Embedded System</a:t>
            </a:r>
            <a:r>
              <a:rPr lang="en-GB" dirty="0"/>
              <a:t> is a combination of computer </a:t>
            </a:r>
            <a:r>
              <a:rPr lang="en-GB" b="1" dirty="0"/>
              <a:t>hardware</a:t>
            </a:r>
            <a:r>
              <a:rPr lang="en-GB" dirty="0"/>
              <a:t> and </a:t>
            </a:r>
            <a:r>
              <a:rPr lang="en-GB" b="1" dirty="0"/>
              <a:t>software</a:t>
            </a:r>
            <a:r>
              <a:rPr lang="en-GB" dirty="0"/>
              <a:t> designed to perform a </a:t>
            </a:r>
            <a:r>
              <a:rPr lang="en-GB" b="1" dirty="0"/>
              <a:t>specific function</a:t>
            </a:r>
            <a:r>
              <a:rPr lang="en-GB" dirty="0"/>
              <a:t> or set of functions.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92CC2-9FF1-65CF-7145-8248FCB11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072" y="3005962"/>
            <a:ext cx="6970227" cy="330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6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83D7-4A9A-7A24-2D62-4EACF866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Characteristics of Embedded Systems: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02D89-1317-35B8-8658-045568692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Contains a </a:t>
            </a:r>
            <a:r>
              <a:rPr lang="en-GB" b="1" dirty="0"/>
              <a:t>processing unit</a:t>
            </a:r>
            <a:endParaRPr lang="en-GB" dirty="0"/>
          </a:p>
          <a:p>
            <a:r>
              <a:rPr lang="en-GB" dirty="0"/>
              <a:t>Includes </a:t>
            </a:r>
            <a:r>
              <a:rPr lang="en-GB" b="1" dirty="0"/>
              <a:t>temporary memory (RAM)</a:t>
            </a:r>
            <a:r>
              <a:rPr lang="en-GB" dirty="0"/>
              <a:t> and </a:t>
            </a:r>
            <a:r>
              <a:rPr lang="en-GB" b="1" dirty="0"/>
              <a:t>permanent storage (Flash, ROM)</a:t>
            </a:r>
            <a:endParaRPr lang="en-GB" dirty="0"/>
          </a:p>
          <a:p>
            <a:r>
              <a:rPr lang="en-GB" b="1" dirty="0"/>
              <a:t>Customized</a:t>
            </a:r>
            <a:r>
              <a:rPr lang="en-GB" dirty="0"/>
              <a:t> for specific applications</a:t>
            </a:r>
          </a:p>
          <a:p>
            <a:r>
              <a:rPr lang="en-GB" b="1" dirty="0"/>
              <a:t>Low cost</a:t>
            </a:r>
            <a:r>
              <a:rPr lang="en-GB" dirty="0"/>
              <a:t> compared to general-purpose computers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5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EA2A-87BA-BE6F-73E4-F639A223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2. Real-life Example: Smartphone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6695-4FA5-D1F0-AFDA-3D14E8019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smartphone is a complex system with multiple embedded components. Each component can be considered an embedded system in itself: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466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529-6CEF-4F5F-343D-9EE1C2C2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389019" y="-708092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3D4DA2-9021-3415-D7AD-3E0026562F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0838936"/>
              </p:ext>
            </p:extLst>
          </p:nvPr>
        </p:nvGraphicFramePr>
        <p:xfrm>
          <a:off x="998620" y="572067"/>
          <a:ext cx="10515600" cy="3497184"/>
        </p:xfrm>
        <a:graphic>
          <a:graphicData uri="http://schemas.openxmlformats.org/drawingml/2006/table">
            <a:tbl>
              <a:tblPr/>
              <a:tblGrid>
                <a:gridCol w="2434390">
                  <a:extLst>
                    <a:ext uri="{9D8B030D-6E8A-4147-A177-3AD203B41FA5}">
                      <a16:colId xmlns:a16="http://schemas.microsoft.com/office/drawing/2014/main" val="1825902319"/>
                    </a:ext>
                  </a:extLst>
                </a:gridCol>
                <a:gridCol w="8081210">
                  <a:extLst>
                    <a:ext uri="{9D8B030D-6E8A-4147-A177-3AD203B41FA5}">
                      <a16:colId xmlns:a16="http://schemas.microsoft.com/office/drawing/2014/main" val="2616082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677418"/>
                  </a:ext>
                </a:extLst>
              </a:tr>
              <a:tr h="684999">
                <a:tc>
                  <a:txBody>
                    <a:bodyPr/>
                    <a:lstStyle/>
                    <a:p>
                      <a:r>
                        <a:rPr lang="en-IN" b="1" dirty="0"/>
                        <a:t>Display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Controlled by a microcontroller with specific display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451765"/>
                  </a:ext>
                </a:extLst>
              </a:tr>
              <a:tr h="684999">
                <a:tc>
                  <a:txBody>
                    <a:bodyPr/>
                    <a:lstStyle/>
                    <a:p>
                      <a:r>
                        <a:rPr lang="en-IN" b="1" dirty="0"/>
                        <a:t>Battery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Has its own circuitry for power management and protection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949709"/>
                  </a:ext>
                </a:extLst>
              </a:tr>
              <a:tr h="684999">
                <a:tc>
                  <a:txBody>
                    <a:bodyPr/>
                    <a:lstStyle/>
                    <a:p>
                      <a:r>
                        <a:rPr lang="en-IN" b="1" dirty="0"/>
                        <a:t>Main Board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Central processing unit (CPU) for running OS and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548870"/>
                  </a:ext>
                </a:extLst>
              </a:tr>
              <a:tr h="391428">
                <a:tc>
                  <a:txBody>
                    <a:bodyPr/>
                    <a:lstStyle/>
                    <a:p>
                      <a:r>
                        <a:rPr lang="en-IN" b="1"/>
                        <a:t>Camera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Often includes its own image signal processor (ISP)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520689"/>
                  </a:ext>
                </a:extLst>
              </a:tr>
              <a:tr h="684999">
                <a:tc>
                  <a:txBody>
                    <a:bodyPr/>
                    <a:lstStyle/>
                    <a:p>
                      <a:r>
                        <a:rPr lang="en-IN" b="1" dirty="0"/>
                        <a:t>Gyroscope Sensor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Uses its own processor to detect orientation and 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53141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73FA032-ECD9-F017-BC39-7FD957B7E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761" y="3928382"/>
            <a:ext cx="8002117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6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A118-CE92-9D43-2EEF-52C353AF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3. Software Perspective: Security System Example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9CC2-C1C8-97A2-AB3A-672582F35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200" b="1" dirty="0"/>
              <a:t>Option 1: Use a General-Purpose Computer</a:t>
            </a:r>
          </a:p>
          <a:p>
            <a:r>
              <a:rPr lang="en-IN" sz="1200" dirty="0"/>
              <a:t>Attach a camera and develop an intruder detection app.</a:t>
            </a:r>
          </a:p>
          <a:p>
            <a:r>
              <a:rPr lang="en-IN" sz="1200" b="1" dirty="0"/>
              <a:t>Pros</a:t>
            </a:r>
            <a:r>
              <a:rPr lang="en-IN" sz="1200" dirty="0"/>
              <a:t>: Easy and fast to develop</a:t>
            </a:r>
          </a:p>
          <a:p>
            <a:r>
              <a:rPr lang="en-IN" sz="1200" b="1" dirty="0"/>
              <a:t>Cons</a:t>
            </a:r>
            <a:r>
              <a:rPr lang="en-IN" sz="1200" dirty="0"/>
              <a:t>: Expensive (e.g., ₹100,000 for PC + ₹3,500 camera), overkill features like display, keyboard, etc.</a:t>
            </a:r>
          </a:p>
          <a:p>
            <a:pPr marL="0" indent="0">
              <a:buNone/>
            </a:pPr>
            <a:r>
              <a:rPr lang="en-IN" sz="1200" b="1" dirty="0"/>
              <a:t>Option 2: Use a Raspberry Pi (General-Purpose Embedded Board)</a:t>
            </a:r>
          </a:p>
          <a:p>
            <a:r>
              <a:rPr lang="en-IN" sz="1200" dirty="0"/>
              <a:t>Attach a camera and write custom software.</a:t>
            </a:r>
          </a:p>
          <a:p>
            <a:r>
              <a:rPr lang="en-IN" sz="1200" b="1" dirty="0"/>
              <a:t>Cost</a:t>
            </a:r>
            <a:r>
              <a:rPr lang="en-IN" sz="1200" dirty="0"/>
              <a:t>: ₹4,000 (Raspberry Pi) + ₹3,500 (camera) + ₹1,000 (Wi-Fi) ≈ ₹6,500</a:t>
            </a:r>
          </a:p>
          <a:p>
            <a:r>
              <a:rPr lang="en-IN" sz="1200" b="1" dirty="0"/>
              <a:t>Still not optimal</a:t>
            </a:r>
            <a:r>
              <a:rPr lang="en-IN" sz="1200" dirty="0"/>
              <a:t>: It has unused hardware like:</a:t>
            </a:r>
          </a:p>
          <a:p>
            <a:pPr lvl="1"/>
            <a:r>
              <a:rPr lang="en-IN" sz="1200" dirty="0"/>
              <a:t>HDMI port &amp; controller</a:t>
            </a:r>
          </a:p>
          <a:p>
            <a:pPr lvl="1"/>
            <a:r>
              <a:rPr lang="en-IN" sz="1200" dirty="0"/>
              <a:t>USB ports &amp; controllers</a:t>
            </a:r>
          </a:p>
          <a:p>
            <a:pPr lvl="1"/>
            <a:r>
              <a:rPr lang="en-IN" sz="1200" dirty="0"/>
              <a:t>Ethernet port &amp; controller</a:t>
            </a:r>
          </a:p>
          <a:p>
            <a:r>
              <a:rPr lang="en-IN" sz="1200" b="1" dirty="0"/>
              <a:t>Option 3: Custom Embedded System</a:t>
            </a:r>
          </a:p>
          <a:p>
            <a:r>
              <a:rPr lang="en-IN" sz="1200" dirty="0"/>
              <a:t>Based on Raspberry Pi design, a </a:t>
            </a:r>
            <a:r>
              <a:rPr lang="en-IN" sz="1200" b="1" dirty="0"/>
              <a:t>hardware engineer</a:t>
            </a:r>
            <a:r>
              <a:rPr lang="en-IN" sz="1200" dirty="0"/>
              <a:t> builds a custom PCB:</a:t>
            </a:r>
          </a:p>
          <a:p>
            <a:pPr lvl="1"/>
            <a:r>
              <a:rPr lang="en-IN" sz="1200" dirty="0"/>
              <a:t>Removes HDMI, Ethernet, USB, etc.</a:t>
            </a:r>
          </a:p>
          <a:p>
            <a:pPr lvl="1"/>
            <a:r>
              <a:rPr lang="en-IN" sz="1200" dirty="0"/>
              <a:t>Adds </a:t>
            </a:r>
            <a:r>
              <a:rPr lang="en-IN" sz="1200" b="1" dirty="0"/>
              <a:t>only essential components</a:t>
            </a:r>
            <a:r>
              <a:rPr lang="en-IN" sz="1200" dirty="0"/>
              <a:t> like Wi-Fi module</a:t>
            </a:r>
          </a:p>
          <a:p>
            <a:r>
              <a:rPr lang="en-IN" sz="1200" b="1" dirty="0"/>
              <a:t>Embedded software engineers</a:t>
            </a:r>
            <a:r>
              <a:rPr lang="en-IN" sz="1200" dirty="0"/>
              <a:t> write software to handle alert functionality</a:t>
            </a:r>
          </a:p>
          <a:p>
            <a:r>
              <a:rPr lang="en-IN" sz="1200" b="1" dirty="0"/>
              <a:t>Cost</a:t>
            </a:r>
            <a:r>
              <a:rPr lang="en-IN" sz="1200" dirty="0"/>
              <a:t>: ₹1,000 (custom board) + ₹3,500 (camera)</a:t>
            </a:r>
          </a:p>
          <a:p>
            <a:pPr marL="0" indent="0">
              <a:buNone/>
            </a:pPr>
            <a:endParaRPr lang="en-IN" sz="1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0AA351-57FB-882F-0FAF-5D9EFFFCB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891" y="1138989"/>
            <a:ext cx="3041383" cy="15095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3FFB74-A172-BE64-9AA9-CD35D9EA7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707" y="2729317"/>
            <a:ext cx="2876951" cy="1683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9CE136-1505-EB19-02B0-AAA99A0B1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780" y="4668689"/>
            <a:ext cx="2675020" cy="125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5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066701-A83A-0519-2F0C-EBB07B3DAC4A}"/>
              </a:ext>
            </a:extLst>
          </p:cNvPr>
          <p:cNvSpPr txBox="1"/>
          <p:nvPr/>
        </p:nvSpPr>
        <p:spPr>
          <a:xfrm>
            <a:off x="1371600" y="1690688"/>
            <a:ext cx="7589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TVs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Home Appliances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Gaming Consoles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Automobiles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Medical Devices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Industrial Robots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D7907-42C9-3F7A-2228-05A8A267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4. Where Are Embedded Systems Found?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6601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8C8E-291C-9019-F33E-ED083720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5. Advantages and Disadvantages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86035-FC79-4981-EE66-711599E8F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✅ Pros:</a:t>
            </a:r>
          </a:p>
          <a:p>
            <a:r>
              <a:rPr lang="en-GB" b="1" dirty="0"/>
              <a:t>Cost-efficient</a:t>
            </a:r>
            <a:endParaRPr lang="en-GB" dirty="0"/>
          </a:p>
          <a:p>
            <a:r>
              <a:rPr lang="en-GB" b="1" dirty="0"/>
              <a:t>Purpose-built for specific tasks</a:t>
            </a:r>
            <a:endParaRPr lang="en-GB" dirty="0"/>
          </a:p>
          <a:p>
            <a:r>
              <a:rPr lang="en-GB" b="1" dirty="0"/>
              <a:t>Optimized performance and user experience</a:t>
            </a:r>
            <a:endParaRPr lang="en-GB" dirty="0"/>
          </a:p>
          <a:p>
            <a:r>
              <a:rPr lang="en-GB" b="1" dirty="0"/>
              <a:t>❌ Cons:</a:t>
            </a:r>
          </a:p>
          <a:p>
            <a:r>
              <a:rPr lang="en-GB" b="1" dirty="0"/>
              <a:t>Hardware constraints</a:t>
            </a:r>
            <a:r>
              <a:rPr lang="en-GB" dirty="0"/>
              <a:t> (limited RAM, CPU, I/O)</a:t>
            </a:r>
          </a:p>
          <a:p>
            <a:r>
              <a:rPr lang="en-GB" b="1" dirty="0"/>
              <a:t>Longer development time</a:t>
            </a:r>
            <a:r>
              <a:rPr lang="en-GB" dirty="0"/>
              <a:t> compared to PCs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054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A64B-22B6-0F5C-D6E7-92F753A7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6. Desktop Linux vs Embedded Linux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FD0C43-01C8-02A4-0FF7-D74CF9BCA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889" y="1690688"/>
            <a:ext cx="7788945" cy="438760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14386D-4643-B15A-31B6-C7C766E01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693" y="1350466"/>
            <a:ext cx="9756237" cy="533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64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3B74-CA1A-10B1-24FD-E87EA362A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🖥️ </a:t>
            </a:r>
            <a:r>
              <a:rPr lang="en-IN" sz="2400" b="1" dirty="0"/>
              <a:t>Desktop Linux					</a:t>
            </a:r>
            <a:r>
              <a:rPr lang="en-IN" sz="2400" dirty="0"/>
              <a:t>⚙️ </a:t>
            </a:r>
            <a:r>
              <a:rPr lang="en-IN" sz="2400" b="1" dirty="0"/>
              <a:t>Embedded Linux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187E9-0F5A-1A33-D015-9D46837C0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" y="1628140"/>
            <a:ext cx="5257800" cy="4864735"/>
          </a:xfrm>
        </p:spPr>
        <p:txBody>
          <a:bodyPr>
            <a:normAutofit/>
          </a:bodyPr>
          <a:lstStyle/>
          <a:p>
            <a:r>
              <a:rPr lang="en-IN" sz="1400" dirty="0"/>
              <a:t>Runs on </a:t>
            </a:r>
            <a:r>
              <a:rPr lang="en-IN" sz="1400" b="1" dirty="0"/>
              <a:t>general-purpose hardware</a:t>
            </a:r>
            <a:r>
              <a:rPr lang="en-IN" sz="1400" dirty="0"/>
              <a:t> (laptops, desktops).			</a:t>
            </a:r>
          </a:p>
          <a:p>
            <a:r>
              <a:rPr lang="en-IN" sz="1400" dirty="0"/>
              <a:t>Uses </a:t>
            </a:r>
            <a:r>
              <a:rPr lang="en-IN" sz="1400" b="1" dirty="0"/>
              <a:t>ready-made boards</a:t>
            </a:r>
            <a:r>
              <a:rPr lang="en-IN" sz="1400" dirty="0"/>
              <a:t> (e.g., Intel, AMD PCs).</a:t>
            </a:r>
          </a:p>
          <a:p>
            <a:r>
              <a:rPr lang="en-IN" sz="1400" dirty="0"/>
              <a:t>Focus is on </a:t>
            </a:r>
            <a:r>
              <a:rPr lang="en-IN" sz="1400" b="1" dirty="0"/>
              <a:t>software customization</a:t>
            </a:r>
            <a:r>
              <a:rPr lang="en-IN" sz="1400" dirty="0"/>
              <a:t>:</a:t>
            </a:r>
          </a:p>
          <a:p>
            <a:pPr lvl="1"/>
            <a:r>
              <a:rPr lang="en-IN" sz="1400" dirty="0"/>
              <a:t>Install apps like browsers, IDEs, and office tools.</a:t>
            </a:r>
          </a:p>
          <a:p>
            <a:pPr lvl="1"/>
            <a:r>
              <a:rPr lang="en-IN" sz="1400" dirty="0"/>
              <a:t>GUI environments like GNOME or KDE.</a:t>
            </a:r>
          </a:p>
          <a:p>
            <a:pPr marL="457200" lvl="1" indent="0">
              <a:buNone/>
            </a:pPr>
            <a:endParaRPr lang="en-IN" sz="1400" dirty="0"/>
          </a:p>
          <a:p>
            <a:r>
              <a:rPr lang="en-IN" sz="1400" dirty="0"/>
              <a:t>Rich hardware support by default (keyboard, display, Wi-Fi, etc.).</a:t>
            </a:r>
          </a:p>
          <a:p>
            <a:r>
              <a:rPr lang="en-IN" sz="1400" b="1" dirty="0"/>
              <a:t>💡 Key point:</a:t>
            </a:r>
            <a:r>
              <a:rPr lang="en-IN" sz="1400" dirty="0"/>
              <a:t> You don’t change the hardware — you install or remove software as needed.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0E699-EA4C-2332-0488-6252A277E7A8}"/>
              </a:ext>
            </a:extLst>
          </p:cNvPr>
          <p:cNvSpPr txBox="1"/>
          <p:nvPr/>
        </p:nvSpPr>
        <p:spPr>
          <a:xfrm>
            <a:off x="5699760" y="1628140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Runs on </a:t>
            </a:r>
            <a:r>
              <a:rPr lang="en-GB" sz="1400" b="1" dirty="0"/>
              <a:t>custom-designed hardware</a:t>
            </a:r>
            <a:r>
              <a:rPr lang="en-GB" sz="1400" dirty="0"/>
              <a:t> (like Raspberry Pi board shown).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Focus is on </a:t>
            </a:r>
            <a:r>
              <a:rPr lang="en-GB" sz="1400" b="1" dirty="0"/>
              <a:t>board customization</a:t>
            </a:r>
            <a:r>
              <a:rPr lang="en-GB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Choose CPU, RAM, I/O based on the use-case.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Remove unused features (e.g., HDMI, Ethernet).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Optimize for power, performance, and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Software is tightly integrated with the hardware: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Minimal libraries and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Often no full desktop environment — may be CLI or lightweight GUI (Qt, GTK).</a:t>
            </a:r>
          </a:p>
          <a:p>
            <a:r>
              <a:rPr lang="en-GB" sz="1400" b="1" dirty="0"/>
              <a:t>💡 Key point:</a:t>
            </a:r>
            <a:r>
              <a:rPr lang="en-GB" sz="1400" dirty="0"/>
              <a:t> You design or modify the hardware </a:t>
            </a:r>
            <a:r>
              <a:rPr lang="en-GB" sz="1400" b="1" dirty="0"/>
              <a:t>and</a:t>
            </a:r>
            <a:r>
              <a:rPr lang="en-GB" sz="1400" dirty="0"/>
              <a:t> create a tailored OS to match.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81657-07DC-5CAB-2812-F37EE0443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78" y="4305796"/>
            <a:ext cx="4383243" cy="239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30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7CE7-67FA-2D03-334D-72DB2F94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Embedded Linux Architecture</a:t>
            </a:r>
            <a:endParaRPr lang="en-IN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7A62DE-9936-F304-4EEA-EBF5B4011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579" y="1690688"/>
            <a:ext cx="5761610" cy="4646910"/>
          </a:xfrm>
        </p:spPr>
      </p:pic>
    </p:spTree>
    <p:extLst>
      <p:ext uri="{BB962C8B-B14F-4D97-AF65-F5344CB8AC3E}">
        <p14:creationId xmlns:p14="http://schemas.microsoft.com/office/powerpoint/2010/main" val="88435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408F-56DD-B75B-B277-F9634082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Bootloader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60DBE-C957-C392-2BDB-CA729BF29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GB" dirty="0"/>
              <a:t>Initializes core components such as CPU, RAM and Memory etc. and loads the Linux kernel into memory.</a:t>
            </a:r>
          </a:p>
          <a:p>
            <a:r>
              <a:rPr lang="en-IN" dirty="0"/>
              <a:t>Primary Bootloader</a:t>
            </a:r>
          </a:p>
          <a:p>
            <a:r>
              <a:rPr lang="en-IN" dirty="0"/>
              <a:t>Secondary Bootloader: Load Linux Kernal Image to RAM.</a:t>
            </a:r>
          </a:p>
          <a:p>
            <a:pPr marL="0" indent="0">
              <a:buNone/>
            </a:pPr>
            <a:r>
              <a:rPr lang="en-GB" sz="4000" dirty="0"/>
              <a:t>Device tree </a:t>
            </a:r>
            <a:r>
              <a:rPr lang="en-GB" dirty="0"/>
              <a:t>---- device tree is a data structure that describes the hardware components of a system, including CPUs, memory, buses, and peripherals. It's a hierarchical tree-like representation of the hardware, with nodes representing devices and properties providing details about them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1E940-2AFA-203A-680F-0D23B9B65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560" y="4990506"/>
            <a:ext cx="5516879" cy="184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BABC-7FBE-3E99-CCDE-150899A9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2" y="-341530"/>
            <a:ext cx="10515600" cy="1325563"/>
          </a:xfrm>
        </p:spPr>
        <p:txBody>
          <a:bodyPr/>
          <a:lstStyle/>
          <a:p>
            <a:r>
              <a:rPr lang="en-IN" dirty="0">
                <a:latin typeface="+mn-lt"/>
              </a:rPr>
              <a:t>Linux Kernel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7ACB6-4BDC-4B9D-D1D0-BB20FF00C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154" y="774065"/>
            <a:ext cx="8552046" cy="6083935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Linux Kernel Image Breakdown</a:t>
            </a:r>
          </a:p>
          <a:p>
            <a:r>
              <a:rPr lang="en-IN" dirty="0"/>
              <a:t>Code that implements OS functionality:</a:t>
            </a:r>
          </a:p>
          <a:p>
            <a:r>
              <a:rPr lang="en-IN" b="1" dirty="0"/>
              <a:t>Network Stack</a:t>
            </a:r>
            <a:r>
              <a:rPr lang="en-IN" dirty="0"/>
              <a:t>: Enables use of TCP/IP, UDP, Wi-Fi, etc.</a:t>
            </a:r>
          </a:p>
          <a:p>
            <a:r>
              <a:rPr lang="en-IN" b="1" dirty="0"/>
              <a:t>Virtual File System (VFS)</a:t>
            </a:r>
            <a:r>
              <a:rPr lang="en-IN" dirty="0"/>
              <a:t>: Manages partitioned file systems.</a:t>
            </a:r>
          </a:p>
          <a:p>
            <a:r>
              <a:rPr lang="en-IN" b="1" dirty="0"/>
              <a:t>Process Management</a:t>
            </a:r>
            <a:r>
              <a:rPr lang="en-IN" dirty="0"/>
              <a:t>: Handles scheduling, threads, priorities.</a:t>
            </a:r>
          </a:p>
          <a:p>
            <a:r>
              <a:rPr lang="en-IN" b="1" dirty="0"/>
              <a:t>Memory Management Unit (MMU)</a:t>
            </a:r>
            <a:r>
              <a:rPr lang="en-IN" dirty="0"/>
              <a:t>: Maps virtual to physical memory, ensures protection.</a:t>
            </a:r>
          </a:p>
          <a:p>
            <a:r>
              <a:rPr lang="en-IN" b="1" dirty="0"/>
              <a:t>Inter-Process Communication (IPC)</a:t>
            </a:r>
            <a:r>
              <a:rPr lang="en-IN" dirty="0"/>
              <a:t>: Allows processes to share data and sync.</a:t>
            </a:r>
            <a:r>
              <a:rPr lang="en-IN" b="1" dirty="0"/>
              <a:t> C</a:t>
            </a:r>
            <a:endParaRPr lang="en-IN" dirty="0"/>
          </a:p>
          <a:p>
            <a:r>
              <a:rPr lang="en-IN" b="1" dirty="0"/>
              <a:t>Architecture-Dependent ode</a:t>
            </a:r>
            <a:r>
              <a:rPr lang="en-IN" dirty="0"/>
              <a:t>: Code specific to CPU/memory/bus architectures.</a:t>
            </a:r>
          </a:p>
          <a:p>
            <a:r>
              <a:rPr lang="en-IN" b="1" dirty="0"/>
              <a:t>Device Drivers</a:t>
            </a:r>
            <a:r>
              <a:rPr lang="en-IN" dirty="0"/>
              <a:t>: Interfaces to control and use hardware like USB, SPI, display.</a:t>
            </a:r>
          </a:p>
          <a:p>
            <a:r>
              <a:rPr lang="en-IN" b="1" dirty="0"/>
              <a:t>System Call Interface</a:t>
            </a:r>
            <a:r>
              <a:rPr lang="en-IN" dirty="0"/>
              <a:t>: Allows user-space programs to request kernel 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00A71-ABF1-6AB7-5B23-59F176891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384" y="2927794"/>
            <a:ext cx="4143953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52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470A87-C89D-E223-4445-1E9BE16F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347" y="4206557"/>
            <a:ext cx="4544059" cy="225774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0201026-6250-779D-2066-4BD6BF9A36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1755" y="837942"/>
            <a:ext cx="818324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End-user programs that perform specific tasks on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Background programs (daemons) that run automatically to support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Desktop Manager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Provides the graphical user interface (GUI) for user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BusyBox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single binary offering essential Unix command-line tools in a compact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Libraries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Shared code that provides functionality to applications (e.g., graphics, networking).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Library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Core library that connects applications to the Linux kernel using system calls.</a:t>
            </a:r>
          </a:p>
        </p:txBody>
      </p:sp>
    </p:spTree>
    <p:extLst>
      <p:ext uri="{BB962C8B-B14F-4D97-AF65-F5344CB8AC3E}">
        <p14:creationId xmlns:p14="http://schemas.microsoft.com/office/powerpoint/2010/main" val="4146593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7004EC-2D8A-D7A7-EBB1-CDF25C8ED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64524"/>
            <a:ext cx="10515600" cy="4606636"/>
          </a:xfrm>
        </p:spPr>
      </p:pic>
    </p:spTree>
    <p:extLst>
      <p:ext uri="{BB962C8B-B14F-4D97-AF65-F5344CB8AC3E}">
        <p14:creationId xmlns:p14="http://schemas.microsoft.com/office/powerpoint/2010/main" val="345828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DF807D-87D7-6C0A-F7CE-2E687C67A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744"/>
            <a:ext cx="10515600" cy="66325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Root File System (</a:t>
            </a:r>
            <a:r>
              <a:rPr lang="en-US" altLang="en-US" sz="1800" b="1" dirty="0" err="1">
                <a:latin typeface="Arial" panose="020B0604020202020204" pitchFamily="34" charset="0"/>
              </a:rPr>
              <a:t>RootFS</a:t>
            </a:r>
            <a:r>
              <a:rPr lang="en-US" altLang="en-US" sz="1800" b="1" dirty="0">
                <a:latin typeface="Arial" panose="020B0604020202020204" pitchFamily="34" charset="0"/>
              </a:rPr>
              <a:t>) Image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Contains user-space directories: </a:t>
            </a:r>
            <a:r>
              <a:rPr lang="en-US" altLang="en-US" sz="1000" dirty="0">
                <a:latin typeface="Arial Unicode MS"/>
              </a:rPr>
              <a:t>/bin</a:t>
            </a:r>
            <a:r>
              <a:rPr lang="en-US" altLang="en-US" sz="800" dirty="0"/>
              <a:t>, </a:t>
            </a:r>
            <a:r>
              <a:rPr lang="en-US" altLang="en-US" sz="1000" dirty="0">
                <a:latin typeface="Arial Unicode MS"/>
              </a:rPr>
              <a:t>/lib</a:t>
            </a:r>
            <a:r>
              <a:rPr lang="en-US" altLang="en-US" sz="800" dirty="0"/>
              <a:t>, </a:t>
            </a:r>
            <a:r>
              <a:rPr lang="en-US" altLang="en-US" sz="1000" dirty="0">
                <a:latin typeface="Arial Unicode MS"/>
              </a:rPr>
              <a:t>/</a:t>
            </a:r>
            <a:r>
              <a:rPr lang="en-US" altLang="en-US" sz="1000" dirty="0" err="1">
                <a:latin typeface="Arial Unicode MS"/>
              </a:rPr>
              <a:t>etc</a:t>
            </a:r>
            <a:r>
              <a:rPr lang="en-US" altLang="en-US" sz="800" dirty="0"/>
              <a:t>, etc.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Includes </a:t>
            </a:r>
            <a:r>
              <a:rPr lang="en-US" altLang="en-US" sz="1800" dirty="0" err="1">
                <a:latin typeface="Arial" panose="020B0604020202020204" pitchFamily="34" charset="0"/>
              </a:rPr>
              <a:t>BusyBox</a:t>
            </a:r>
            <a:r>
              <a:rPr lang="en-US" altLang="en-US" sz="1800" dirty="0">
                <a:latin typeface="Arial" panose="020B0604020202020204" pitchFamily="34" charset="0"/>
              </a:rPr>
              <a:t>, libraries, services, configs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1800" dirty="0" err="1"/>
              <a:t>BusyBox</a:t>
            </a:r>
            <a:r>
              <a:rPr lang="en-GB" sz="1800" dirty="0"/>
              <a:t> is a software suite that provides a collection of common Unix utilities, all bundled into a single, small executable file. 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1800" dirty="0"/>
              <a:t>The Swiss Army Knife of Embedded Linux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Firmware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sz="1800" b="1" dirty="0"/>
              <a:t>Firmware</a:t>
            </a:r>
            <a:r>
              <a:rPr lang="en-GB" sz="1800" dirty="0"/>
              <a:t> is a </a:t>
            </a:r>
            <a:r>
              <a:rPr lang="en-GB" sz="1800" b="1" dirty="0"/>
              <a:t>generic term</a:t>
            </a:r>
            <a:r>
              <a:rPr lang="en-GB" sz="1800" dirty="0"/>
              <a:t> for any software that's </a:t>
            </a:r>
            <a:r>
              <a:rPr lang="en-GB" sz="1800" b="1" dirty="0"/>
              <a:t>permanently programmed</a:t>
            </a:r>
            <a:r>
              <a:rPr lang="en-GB" sz="1800" dirty="0"/>
              <a:t> or </a:t>
            </a:r>
            <a:r>
              <a:rPr lang="en-GB" sz="1800" b="1" dirty="0"/>
              <a:t>flashed</a:t>
            </a:r>
            <a:r>
              <a:rPr lang="en-GB" sz="1800" dirty="0"/>
              <a:t> into a device to make hardware usable.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sz="1800" dirty="0">
                <a:latin typeface="Arial" panose="020B0604020202020204" pitchFamily="34" charset="0"/>
              </a:rPr>
              <a:t>\</a:t>
            </a:r>
            <a:r>
              <a:rPr lang="en-US" altLang="en-US" sz="1800" dirty="0">
                <a:latin typeface="Arial" panose="020B0604020202020204" pitchFamily="34" charset="0"/>
              </a:rPr>
              <a:t>May include bootloader + kernel + </a:t>
            </a:r>
            <a:r>
              <a:rPr lang="en-US" altLang="en-US" sz="1800" dirty="0" err="1">
                <a:latin typeface="Arial" panose="020B0604020202020204" pitchFamily="34" charset="0"/>
              </a:rPr>
              <a:t>rootfs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r>
              <a:rPr lang="en-GB" sz="1800" dirty="0"/>
              <a:t>🧰 1. Toolchain (Compiler + Tools)</a:t>
            </a:r>
          </a:p>
          <a:p>
            <a:r>
              <a:rPr lang="en-GB" sz="1800" dirty="0"/>
              <a:t>🔧 What is a Toolchain?</a:t>
            </a:r>
          </a:p>
          <a:p>
            <a:r>
              <a:rPr lang="en-GB" sz="1800" dirty="0"/>
              <a:t>A toolchain is a set of tools used to compile source code into binary executables that run on your target hardware (not your PC).</a:t>
            </a:r>
          </a:p>
          <a:p>
            <a:endParaRPr lang="en-GB" sz="1800" dirty="0"/>
          </a:p>
          <a:p>
            <a:r>
              <a:rPr lang="en-GB" sz="1800" dirty="0"/>
              <a:t>💡 It is mainly used for cross-compiling — compiling on one machine (host PC) for another (embedded target).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51760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DFE9-6F8D-B750-E7C6-6D4A1AA3D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79704"/>
            <a:ext cx="10515600" cy="6022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🔗 Common Tool in a Toolchain:</a:t>
            </a:r>
          </a:p>
          <a:p>
            <a:pPr marL="0" indent="0">
              <a:buNone/>
            </a:pPr>
            <a:r>
              <a:rPr lang="en-IN" sz="1800" dirty="0"/>
              <a:t>    Tool 	                     Purpose</a:t>
            </a:r>
          </a:p>
          <a:p>
            <a:r>
              <a:rPr lang="en-IN" sz="1800" dirty="0" err="1"/>
              <a:t>gcc</a:t>
            </a:r>
            <a:r>
              <a:rPr lang="en-IN" sz="1800" dirty="0"/>
              <a:t>	                     Compiler: Converts C/C++ to machine code</a:t>
            </a:r>
          </a:p>
          <a:p>
            <a:r>
              <a:rPr lang="en-IN" sz="1800" dirty="0"/>
              <a:t>Compiler (</a:t>
            </a:r>
            <a:r>
              <a:rPr lang="en-IN" sz="1800" dirty="0" err="1"/>
              <a:t>gcc</a:t>
            </a:r>
            <a:r>
              <a:rPr lang="en-IN" sz="1800" dirty="0"/>
              <a:t>)     – Converts code to machine language</a:t>
            </a:r>
          </a:p>
          <a:p>
            <a:r>
              <a:rPr lang="en-IN" sz="1800" dirty="0"/>
              <a:t>Linker                    – Combines pieces into one program</a:t>
            </a:r>
          </a:p>
          <a:p>
            <a:r>
              <a:rPr lang="en-IN" sz="1800" dirty="0"/>
              <a:t>Debugger (</a:t>
            </a:r>
            <a:r>
              <a:rPr lang="en-IN" sz="1800" dirty="0" err="1"/>
              <a:t>gdb</a:t>
            </a:r>
            <a:r>
              <a:rPr lang="en-IN" sz="1800" dirty="0"/>
              <a:t>)   – Helps you fix errors</a:t>
            </a:r>
          </a:p>
        </p:txBody>
      </p:sp>
    </p:spTree>
    <p:extLst>
      <p:ext uri="{BB962C8B-B14F-4D97-AF65-F5344CB8AC3E}">
        <p14:creationId xmlns:p14="http://schemas.microsoft.com/office/powerpoint/2010/main" val="349035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2A6F-0CE2-D05E-4458-2569CAD0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21D816-B566-0A5A-29F0-A01013F74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007" y="2534526"/>
            <a:ext cx="4658984" cy="178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83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5F1C-3A27-A145-9025-2DCE65CB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132F-2D96-80C0-CEF2-3850CADF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What is YOCTO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23CB9-226A-6E82-3572-9DD601DF7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en-IN" dirty="0" err="1"/>
              <a:t>uild</a:t>
            </a:r>
            <a:r>
              <a:rPr lang="en-IN" dirty="0"/>
              <a:t> system used to create custom Linux distributions.</a:t>
            </a:r>
          </a:p>
          <a:p>
            <a:r>
              <a:rPr lang="en-IN" dirty="0"/>
              <a:t>What is Linux distribution? :</a:t>
            </a:r>
          </a:p>
          <a:p>
            <a:pPr marL="0" indent="0">
              <a:buNone/>
            </a:pPr>
            <a:r>
              <a:rPr lang="en-IN" dirty="0"/>
              <a:t>    1. Linux is divided into two parts one is user space and another is               </a:t>
            </a:r>
          </a:p>
          <a:p>
            <a:pPr marL="0" indent="0">
              <a:buNone/>
            </a:pPr>
            <a:r>
              <a:rPr lang="en-IN" dirty="0"/>
              <a:t>    kernel space the part that divides the user space and kernel space</a:t>
            </a:r>
          </a:p>
          <a:p>
            <a:pPr marL="0" indent="0">
              <a:buNone/>
            </a:pPr>
            <a:r>
              <a:rPr lang="en-IN" dirty="0"/>
              <a:t>    is Linux kernel</a:t>
            </a:r>
          </a:p>
          <a:p>
            <a:pPr marL="0" indent="0">
              <a:buNone/>
            </a:pPr>
            <a:r>
              <a:rPr lang="en-IN" dirty="0"/>
              <a:t>    2.Linux OS is built around the Linux kernel Linux OS means system </a:t>
            </a:r>
          </a:p>
          <a:p>
            <a:pPr marL="0" indent="0">
              <a:buNone/>
            </a:pPr>
            <a:r>
              <a:rPr lang="en-IN" dirty="0"/>
              <a:t>        utilities and applications in user space and hardware, device </a:t>
            </a:r>
          </a:p>
          <a:p>
            <a:pPr marL="0" indent="0">
              <a:buNone/>
            </a:pPr>
            <a:r>
              <a:rPr lang="en-IN" dirty="0"/>
              <a:t>        drivers, bootloader in kernel space, is called Linux distribution.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174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E24AC-D189-2C2A-B66B-E4128D7C7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625" y="191768"/>
            <a:ext cx="9323570" cy="5108575"/>
          </a:xfrm>
          <a:solidFill>
            <a:schemeClr val="bg1"/>
          </a:solidFill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D6F070-54AB-D370-56C4-DDCA59918C18}"/>
                  </a:ext>
                </a:extLst>
              </p14:cNvPr>
              <p14:cNvContentPartPr/>
              <p14:nvPr/>
            </p14:nvContentPartPr>
            <p14:xfrm>
              <a:off x="6034920" y="411840"/>
              <a:ext cx="591840" cy="173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D6F070-54AB-D370-56C4-DDCA59918C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80920" y="303840"/>
                <a:ext cx="69948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BBAB9FC-2E65-AF1B-1AC2-E1E7F655789D}"/>
                  </a:ext>
                </a:extLst>
              </p14:cNvPr>
              <p14:cNvContentPartPr/>
              <p14:nvPr/>
            </p14:nvContentPartPr>
            <p14:xfrm>
              <a:off x="6522360" y="54864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BBAB9FC-2E65-AF1B-1AC2-E1E7F65578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68360" y="4406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8FBEF87-99BD-0158-4796-0158857C6D15}"/>
                  </a:ext>
                </a:extLst>
              </p14:cNvPr>
              <p14:cNvContentPartPr/>
              <p14:nvPr/>
            </p14:nvContentPartPr>
            <p14:xfrm>
              <a:off x="5884800" y="532440"/>
              <a:ext cx="1171440" cy="31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8FBEF87-99BD-0158-4796-0158857C6D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30800" y="424800"/>
                <a:ext cx="1279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AFA06FA-CBF9-55F2-B339-138000BCC72A}"/>
                  </a:ext>
                </a:extLst>
              </p14:cNvPr>
              <p14:cNvContentPartPr/>
              <p14:nvPr/>
            </p14:nvContentPartPr>
            <p14:xfrm>
              <a:off x="6675000" y="397800"/>
              <a:ext cx="2493000" cy="165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AFA06FA-CBF9-55F2-B339-138000BCC7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1000" y="290160"/>
                <a:ext cx="26006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39654DE-3CE1-2012-7863-BC7D24A6CD09}"/>
                  </a:ext>
                </a:extLst>
              </p14:cNvPr>
              <p14:cNvContentPartPr/>
              <p14:nvPr/>
            </p14:nvContentPartPr>
            <p14:xfrm>
              <a:off x="9159000" y="39600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39654DE-3CE1-2012-7863-BC7D24A6CD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5000" y="2880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FB47ED-A7EC-10E1-2B38-D82A67896A66}"/>
                  </a:ext>
                </a:extLst>
              </p14:cNvPr>
              <p14:cNvContentPartPr/>
              <p14:nvPr/>
            </p14:nvContentPartPr>
            <p14:xfrm>
              <a:off x="9159000" y="39600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FB47ED-A7EC-10E1-2B38-D82A67896A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5000" y="2880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978D301-F163-91E7-D84C-82F82EE13A7F}"/>
                  </a:ext>
                </a:extLst>
              </p14:cNvPr>
              <p14:cNvContentPartPr/>
              <p14:nvPr/>
            </p14:nvContentPartPr>
            <p14:xfrm>
              <a:off x="9159000" y="39600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978D301-F163-91E7-D84C-82F82EE13A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5000" y="2880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531CA8D-9827-34DD-1A50-8B96CF374C1E}"/>
                  </a:ext>
                </a:extLst>
              </p14:cNvPr>
              <p14:cNvContentPartPr/>
              <p14:nvPr/>
            </p14:nvContentPartPr>
            <p14:xfrm>
              <a:off x="8716920" y="68616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531CA8D-9827-34DD-1A50-8B96CF374C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62920" y="5781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D103ADE-AF44-EFAF-D5BE-183CA4A78FF9}"/>
                  </a:ext>
                </a:extLst>
              </p14:cNvPr>
              <p14:cNvContentPartPr/>
              <p14:nvPr/>
            </p14:nvContentPartPr>
            <p14:xfrm>
              <a:off x="8716920" y="68616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D103ADE-AF44-EFAF-D5BE-183CA4A78F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62920" y="57816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9C6A787-F589-54FB-3621-D7084B077FE2}"/>
                  </a:ext>
                </a:extLst>
              </p14:cNvPr>
              <p14:cNvContentPartPr/>
              <p14:nvPr/>
            </p14:nvContentPartPr>
            <p14:xfrm>
              <a:off x="8427480" y="39600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9C6A787-F589-54FB-3621-D7084B077F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73480" y="2880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1EB906B-65E5-069E-5C06-AB69E16A632B}"/>
                  </a:ext>
                </a:extLst>
              </p14:cNvPr>
              <p14:cNvContentPartPr/>
              <p14:nvPr/>
            </p14:nvContentPartPr>
            <p14:xfrm>
              <a:off x="8427480" y="39600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1EB906B-65E5-069E-5C06-AB69E16A63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73480" y="2880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02B7CB-8D25-F23F-AEFE-4EF8EA01A4B8}"/>
                  </a:ext>
                </a:extLst>
              </p14:cNvPr>
              <p14:cNvContentPartPr/>
              <p14:nvPr/>
            </p14:nvContentPartPr>
            <p14:xfrm>
              <a:off x="7406520" y="-140184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02B7CB-8D25-F23F-AEFE-4EF8EA01A4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52520" y="-150984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92C925BA-EF1C-47C5-8016-F82E39AB9D12}"/>
              </a:ext>
            </a:extLst>
          </p:cNvPr>
          <p:cNvSpPr/>
          <p:nvPr/>
        </p:nvSpPr>
        <p:spPr>
          <a:xfrm>
            <a:off x="5884800" y="164464"/>
            <a:ext cx="4192395" cy="6889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614E73-B421-6B46-C4E3-D8665027FEF3}"/>
              </a:ext>
            </a:extLst>
          </p:cNvPr>
          <p:cNvSpPr/>
          <p:nvPr/>
        </p:nvSpPr>
        <p:spPr>
          <a:xfrm>
            <a:off x="5013960" y="164464"/>
            <a:ext cx="972000" cy="6875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16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63725-75CC-346E-D395-F7382B91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Why Use </a:t>
            </a:r>
            <a:r>
              <a:rPr lang="en-IN" dirty="0" err="1">
                <a:latin typeface="+mn-lt"/>
              </a:rPr>
              <a:t>Yocto</a:t>
            </a:r>
            <a:r>
              <a:rPr lang="en-IN" dirty="0">
                <a:latin typeface="+mn-lt"/>
              </a:rPr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3A48-8826-6269-FFD9-CF5E4CC02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Highly Customizable : select what you need such as drivers, libraries, features.</a:t>
            </a:r>
          </a:p>
          <a:p>
            <a:r>
              <a:rPr lang="en-IN" dirty="0"/>
              <a:t>Industry Grade Tool Chain : Widely adopted by companies.</a:t>
            </a:r>
          </a:p>
          <a:p>
            <a:r>
              <a:rPr lang="en-IN" dirty="0"/>
              <a:t>Layer Bases Workflow : Use/Write Reproducible “ Layers “</a:t>
            </a:r>
          </a:p>
        </p:txBody>
      </p:sp>
    </p:spTree>
    <p:extLst>
      <p:ext uri="{BB962C8B-B14F-4D97-AF65-F5344CB8AC3E}">
        <p14:creationId xmlns:p14="http://schemas.microsoft.com/office/powerpoint/2010/main" val="2200514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5EA40-6E34-FAB3-81A2-C2EF78737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837" y="377824"/>
            <a:ext cx="7869024" cy="5337175"/>
          </a:xfrm>
        </p:spPr>
      </p:pic>
    </p:spTree>
    <p:extLst>
      <p:ext uri="{BB962C8B-B14F-4D97-AF65-F5344CB8AC3E}">
        <p14:creationId xmlns:p14="http://schemas.microsoft.com/office/powerpoint/2010/main" val="4067770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B42F0-39A4-942D-7DE1-42CAD7883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0"/>
            <a:ext cx="11536680" cy="25538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/>
              <a:t>1. Source Code</a:t>
            </a:r>
          </a:p>
          <a:p>
            <a:pPr marL="0" indent="0">
              <a:buNone/>
            </a:pPr>
            <a:r>
              <a:rPr lang="en-GB" sz="1600" dirty="0"/>
              <a:t>➡️ Contains the raw application code, kernel, bootloader, and configuration files used in the build process.</a:t>
            </a:r>
          </a:p>
          <a:p>
            <a:pPr marL="0" indent="0">
              <a:buNone/>
            </a:pPr>
            <a:endParaRPr lang="en-GB" sz="1600" dirty="0"/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79DC5F-6298-18DE-247B-E73C57C42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" y="614869"/>
            <a:ext cx="728116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Build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➡️ The central part of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Yocto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that controls how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software is built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 assembled into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+mj-lt"/>
              </a:rPr>
              <a:t>    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Build Engine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Coordinates all tasks required to build the system.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BitBake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execute tasks defined in recipes.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+mj-lt"/>
              </a:rPr>
              <a:t>       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oolchain (Compiler)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set of tools (like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gcc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gdb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used to compile code for a target device (cross-compilation)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779142-D269-8550-35B6-0F322E6D3958}"/>
              </a:ext>
            </a:extLst>
          </p:cNvPr>
          <p:cNvSpPr txBox="1"/>
          <p:nvPr/>
        </p:nvSpPr>
        <p:spPr>
          <a:xfrm>
            <a:off x="411480" y="250567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3. </a:t>
            </a:r>
            <a:r>
              <a:rPr lang="en-GB" sz="1600" b="1" dirty="0" err="1"/>
              <a:t>BitBake</a:t>
            </a:r>
            <a:endParaRPr lang="en-GB" sz="1600" b="1" dirty="0"/>
          </a:p>
          <a:p>
            <a:r>
              <a:rPr lang="en-GB" sz="1600" dirty="0"/>
              <a:t>➡️ The task executor — reads recipes and runs each step (fetch, configure, compile, install) to build packages.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B0259-9230-95DB-1FF6-74CD8E2DD452}"/>
              </a:ext>
            </a:extLst>
          </p:cNvPr>
          <p:cNvSpPr txBox="1"/>
          <p:nvPr/>
        </p:nvSpPr>
        <p:spPr>
          <a:xfrm>
            <a:off x="411480" y="333666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4. </a:t>
            </a:r>
            <a:r>
              <a:rPr lang="en-GB" sz="1600" b="1" dirty="0" err="1"/>
              <a:t>OpenEmbedded</a:t>
            </a:r>
            <a:endParaRPr lang="en-GB" sz="1600" b="1" dirty="0"/>
          </a:p>
          <a:p>
            <a:r>
              <a:rPr lang="en-GB" sz="1600" dirty="0"/>
              <a:t>➡️ A collection of metadata (layers, recipes) that tells </a:t>
            </a:r>
            <a:r>
              <a:rPr lang="en-GB" sz="1600" dirty="0" err="1"/>
              <a:t>BitBake</a:t>
            </a:r>
            <a:r>
              <a:rPr lang="en-GB" sz="1600" dirty="0"/>
              <a:t> how to build software.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6C6A88A4-8B40-D341-7006-8DC66D9CC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" y="4319527"/>
            <a:ext cx="428675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5. Output Folder (Binaries)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➡️ Stores the compiled results (binaries)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Kernel image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zImage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Image)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Root filesystem (rootfs.ext4)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Bootloader (u-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boot.bin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 binaries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9876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188EEAD-B96B-1272-AFEC-40A1EC084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440" y="218947"/>
            <a:ext cx="943239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6. System Image(s)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➡️ The final output image (e.g., .img, .wic) which can be flashed onto your embedded device (like Raspberry Pi).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56C042-46B4-6359-F34C-1476232A2CDC}"/>
              </a:ext>
            </a:extLst>
          </p:cNvPr>
          <p:cNvSpPr txBox="1"/>
          <p:nvPr/>
        </p:nvSpPr>
        <p:spPr>
          <a:xfrm>
            <a:off x="472440" y="105965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7. Terminal</a:t>
            </a:r>
          </a:p>
          <a:p>
            <a:pPr>
              <a:buNone/>
            </a:pPr>
            <a:r>
              <a:rPr lang="en-GB" sz="1600" dirty="0"/>
              <a:t>➡️ Interface where developers interact with the </a:t>
            </a:r>
            <a:r>
              <a:rPr lang="en-GB" sz="1600" dirty="0" err="1"/>
              <a:t>Yocto</a:t>
            </a:r>
            <a:r>
              <a:rPr lang="en-GB" sz="1600" dirty="0"/>
              <a:t> build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Used to run </a:t>
            </a:r>
            <a:r>
              <a:rPr lang="en-GB" sz="1600" dirty="0" err="1"/>
              <a:t>BitBake</a:t>
            </a:r>
            <a:r>
              <a:rPr lang="en-GB" sz="1600" dirty="0"/>
              <a:t> commands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Shows logs, errors, and </a:t>
            </a:r>
            <a:r>
              <a:rPr lang="en-GB" sz="1600"/>
              <a:t>debug output.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945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1463</Words>
  <Application>Microsoft Office PowerPoint</Application>
  <PresentationFormat>Widescreen</PresentationFormat>
  <Paragraphs>157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Unicode MS</vt:lpstr>
      <vt:lpstr>Calibri</vt:lpstr>
      <vt:lpstr>Calibri Light</vt:lpstr>
      <vt:lpstr>Century</vt:lpstr>
      <vt:lpstr>Office Theme</vt:lpstr>
      <vt:lpstr>PowerPoint Presentation</vt:lpstr>
      <vt:lpstr>Embedded Systems</vt:lpstr>
      <vt:lpstr>1. What is an Embedded System ?</vt:lpstr>
      <vt:lpstr>Key Characteristics of Embedded Systems:</vt:lpstr>
      <vt:lpstr>2. Real-life Example: Smartphone</vt:lpstr>
      <vt:lpstr>PowerPoint Presentation</vt:lpstr>
      <vt:lpstr>3. Software Perspective: Security System Example</vt:lpstr>
      <vt:lpstr>4. Where Are Embedded Systems Found?</vt:lpstr>
      <vt:lpstr>5. Advantages and Disadvantages</vt:lpstr>
      <vt:lpstr>6. Desktop Linux vs Embedded Linux</vt:lpstr>
      <vt:lpstr>🖥️ Desktop Linux     ⚙️ Embedded Linux</vt:lpstr>
      <vt:lpstr>Embedded Linux Architecture</vt:lpstr>
      <vt:lpstr>Bootloader</vt:lpstr>
      <vt:lpstr>Linux Kernel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YOCTO ?</vt:lpstr>
      <vt:lpstr>PowerPoint Presentation</vt:lpstr>
      <vt:lpstr>Why Use Yocto 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Chelimili Raju</dc:creator>
  <cp:lastModifiedBy>Praveen Kommalapati</cp:lastModifiedBy>
  <cp:revision>5</cp:revision>
  <dcterms:created xsi:type="dcterms:W3CDTF">2025-07-01T16:12:55Z</dcterms:created>
  <dcterms:modified xsi:type="dcterms:W3CDTF">2025-07-03T05:11:00Z</dcterms:modified>
</cp:coreProperties>
</file>